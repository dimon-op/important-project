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9" r:id="rId4"/>
    <p:sldId id="270" r:id="rId5"/>
    <p:sldId id="271" r:id="rId6"/>
    <p:sldId id="272" r:id="rId7"/>
    <p:sldId id="273" r:id="rId8"/>
    <p:sldId id="275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74EEC7-C5C9-DDF5-8C46-E6804F508F49}" v="147" dt="2024-11-05T13:42:27.163"/>
    <p1510:client id="{CF100256-5404-64F5-9BA4-7977E8D4A629}" v="25" dt="2024-11-06T04:26:01.036"/>
    <p1510:client id="{EF1E2E93-9560-A53E-7D36-678A919EC21C}" v="406" dt="2024-11-04T06:47:09.5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2" autoAdjust="0"/>
    <p:restoredTop sz="94660"/>
  </p:normalViewPr>
  <p:slideViewPr>
    <p:cSldViewPr snapToGrid="0">
      <p:cViewPr>
        <p:scale>
          <a:sx n="100" d="100"/>
          <a:sy n="100" d="100"/>
        </p:scale>
        <p:origin x="876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5236" y="938749"/>
            <a:ext cx="9144000" cy="238760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/>
                <a:ea typeface="+mj-lt"/>
                <a:cs typeface="+mj-lt"/>
              </a:rPr>
              <a:t>«Создание программы на языке </a:t>
            </a:r>
            <a:r>
              <a:rPr lang="en-US" sz="3200" dirty="0">
                <a:latin typeface="Times New Roman"/>
                <a:ea typeface="+mj-lt"/>
                <a:cs typeface="+mj-lt"/>
              </a:rPr>
              <a:t>Python </a:t>
            </a:r>
            <a:r>
              <a:rPr lang="ru-RU" sz="3200" dirty="0">
                <a:latin typeface="Times New Roman"/>
                <a:ea typeface="+mj-lt"/>
                <a:cs typeface="+mj-lt"/>
              </a:rPr>
              <a:t>для рыночного мониторинга цифровых и сырьевых активов»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19060" y="3195"/>
            <a:ext cx="10153879" cy="143542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1800" dirty="0">
                <a:latin typeface="Times New Roman"/>
                <a:cs typeface="Times New Roman"/>
              </a:rPr>
              <a:t>МИНИСТЕРСТВО ПРОСВЕЩЕНИЯ РОССИЙСКОЙ ФЕДЕРАЦИИ ЛИЦЕЙ ФГБОУ ВО </a:t>
            </a:r>
            <a:r>
              <a:rPr lang="ru-RU" sz="1800" dirty="0">
                <a:ea typeface="+mn-lt"/>
                <a:cs typeface="+mn-lt"/>
              </a:rPr>
              <a:t>«БГПУ»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BC374A-31AA-BB8B-EA4B-378B7A9FCB94}"/>
              </a:ext>
            </a:extLst>
          </p:cNvPr>
          <p:cNvSpPr txBox="1"/>
          <p:nvPr/>
        </p:nvSpPr>
        <p:spPr>
          <a:xfrm>
            <a:off x="3046727" y="1093745"/>
            <a:ext cx="609854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cs typeface="Times New Roman"/>
              </a:rPr>
              <a:t>Индивидуальный итоговый проект по информатике на тему: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F27611-4F21-58A8-B72D-B665249B4262}"/>
              </a:ext>
            </a:extLst>
          </p:cNvPr>
          <p:cNvSpPr txBox="1"/>
          <p:nvPr/>
        </p:nvSpPr>
        <p:spPr>
          <a:xfrm>
            <a:off x="1525236" y="4840925"/>
            <a:ext cx="1014608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1" dirty="0">
                <a:latin typeface="Times New Roman"/>
                <a:cs typeface="Times New Roman"/>
              </a:rPr>
              <a:t>Работу выполнил: </a:t>
            </a:r>
            <a:r>
              <a:rPr lang="ru-RU" dirty="0">
                <a:latin typeface="Times New Roman"/>
                <a:cs typeface="Times New Roman"/>
              </a:rPr>
              <a:t>обучающийся 11Б класса Лицея БГПУ Д.О. Христофоров</a:t>
            </a:r>
          </a:p>
          <a:p>
            <a:endParaRPr lang="ru-RU" dirty="0">
              <a:latin typeface="Times New Roman"/>
              <a:cs typeface="Times New Roman"/>
            </a:endParaRPr>
          </a:p>
          <a:p>
            <a:r>
              <a:rPr lang="ru-RU" b="1" dirty="0">
                <a:latin typeface="Times New Roman"/>
                <a:cs typeface="Times New Roman"/>
              </a:rPr>
              <a:t>Руководитель работы: </a:t>
            </a:r>
            <a:r>
              <a:rPr lang="ru-RU" dirty="0">
                <a:latin typeface="Times New Roman"/>
                <a:cs typeface="Times New Roman"/>
              </a:rPr>
              <a:t>учитель информатики Лицея БГПУ Е.М. </a:t>
            </a:r>
            <a:r>
              <a:rPr lang="ru-RU" dirty="0" err="1">
                <a:latin typeface="Times New Roman"/>
                <a:cs typeface="Times New Roman"/>
              </a:rPr>
              <a:t>Коландария</a:t>
            </a:r>
            <a:endParaRPr lang="ru-RU" dirty="0"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C462CF-EAAB-FD5E-3DDE-F8968A618CB1}"/>
              </a:ext>
            </a:extLst>
          </p:cNvPr>
          <p:cNvSpPr txBox="1"/>
          <p:nvPr/>
        </p:nvSpPr>
        <p:spPr>
          <a:xfrm>
            <a:off x="4110652" y="6272078"/>
            <a:ext cx="425884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cs typeface="Times New Roman"/>
              </a:rPr>
              <a:t>Благовещенск 2026</a:t>
            </a: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4FFBEE45-F140-49D5-85EA-C78C24340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C4533F-B7A4-F5CB-37CF-CC0D88174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" y="-1"/>
            <a:ext cx="12190476" cy="18284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  <a:endParaRPr lang="en-US" kern="12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4172C6-D1D4-BA39-EC3B-9BDEAB902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555"/>
            <a:ext cx="11353800" cy="182844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работы: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графической программы на Python для отслеживания курса криптовалют, функциями которой будут: получение данных в реальном времени с публичных API криптобирж, предоставление их в удобном для пользователя формате.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2B999A-6139-7F57-670E-067A3B54D584}"/>
              </a:ext>
            </a:extLst>
          </p:cNvPr>
          <p:cNvSpPr txBox="1"/>
          <p:nvPr/>
        </p:nvSpPr>
        <p:spPr>
          <a:xfrm>
            <a:off x="6094476" y="533396"/>
            <a:ext cx="5164645" cy="373046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Autofit/>
          </a:bodyPr>
          <a:lstStyle/>
          <a:p>
            <a:endParaRPr lang="ru-R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9B2DEF-C54F-B69B-79D8-C793BF97AB8F}"/>
              </a:ext>
            </a:extLst>
          </p:cNvPr>
          <p:cNvSpPr txBox="1"/>
          <p:nvPr/>
        </p:nvSpPr>
        <p:spPr>
          <a:xfrm>
            <a:off x="59820" y="3321395"/>
            <a:ext cx="1206931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Изучить особенности криптовалютного рынка и существующие способы получения котировок.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Изучить публичные API, выбрать источник данных и спроектировать архитектуру программы.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Разработать графический интерфейс и реализовать получение и отображение котировок.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Провести функциональное тестирование программы и выявить недостатки.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Устранить выявленные недостатки, оценить результат и сформулировать выводы.</a:t>
            </a:r>
          </a:p>
        </p:txBody>
      </p:sp>
    </p:spTree>
    <p:extLst>
      <p:ext uri="{BB962C8B-B14F-4D97-AF65-F5344CB8AC3E}">
        <p14:creationId xmlns:p14="http://schemas.microsoft.com/office/powerpoint/2010/main" val="2389279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515B71-874D-A814-72A4-3F73F40E2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34AE2DDE-D35F-6477-6D4C-B1D80DE6A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CBB9B4-AE90-9592-5C28-053ADD787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" y="-1"/>
            <a:ext cx="12190476" cy="18284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  <a:endParaRPr lang="en-US" kern="12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0E6C21-CD58-3D9C-2643-BDAFEA0F5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9053"/>
            <a:ext cx="11353800" cy="182844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Актуальность: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необходимость оперативного отслеживания постоянно меняющихся цен на цифровые и сырьевые активы, информация о которых размещена на разных платформах, обусловливает потребность в создании единой программы для автоматизированного сбора и отображения рыночных котировок.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C0AD7C-7EAA-5630-379E-8A1D7C49AF02}"/>
              </a:ext>
            </a:extLst>
          </p:cNvPr>
          <p:cNvSpPr txBox="1"/>
          <p:nvPr/>
        </p:nvSpPr>
        <p:spPr>
          <a:xfrm>
            <a:off x="6094476" y="533396"/>
            <a:ext cx="5164645" cy="373046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Autofit/>
          </a:bodyPr>
          <a:lstStyle/>
          <a:p>
            <a:endParaRPr lang="ru-R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C6F1EF-8B1C-06CA-9DB5-BECBBC98C70D}"/>
              </a:ext>
            </a:extLst>
          </p:cNvPr>
          <p:cNvSpPr txBox="1"/>
          <p:nvPr/>
        </p:nvSpPr>
        <p:spPr>
          <a:xfrm>
            <a:off x="-3048" y="4251006"/>
            <a:ext cx="1206931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Гипотеза: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объединить получение актуальных данных криптовалют через публичный API и отображение данных в графическом интерфейсе через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Python-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программу, то мониторинг выбранных активов станет удобнее, чем при ручном поиске на нескольких сайтах.</a:t>
            </a:r>
          </a:p>
        </p:txBody>
      </p:sp>
    </p:spTree>
    <p:extLst>
      <p:ext uri="{BB962C8B-B14F-4D97-AF65-F5344CB8AC3E}">
        <p14:creationId xmlns:p14="http://schemas.microsoft.com/office/powerpoint/2010/main" val="2675408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F56272-ACEE-E5CC-2A9B-E9DA3275B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AD002655-0ED0-5F21-C230-B83F0BDAB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546245-5A6F-A44D-3948-697DB250A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" y="-1"/>
            <a:ext cx="12190476" cy="18284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Выбранные активы</a:t>
            </a:r>
            <a:endParaRPr lang="en-US" kern="12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6B535B-07A7-736B-C806-69937B71C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9053"/>
            <a:ext cx="11353800" cy="233456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Цифровые активы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EC6987-75BC-267E-921F-B2DDF1CDEEAF}"/>
              </a:ext>
            </a:extLst>
          </p:cNvPr>
          <p:cNvSpPr txBox="1"/>
          <p:nvPr/>
        </p:nvSpPr>
        <p:spPr>
          <a:xfrm>
            <a:off x="6094476" y="533396"/>
            <a:ext cx="5164645" cy="373046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Autofit/>
          </a:bodyPr>
          <a:lstStyle/>
          <a:p>
            <a:endParaRPr lang="ru-R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32A805-DBA9-58DD-D0DC-AE456278ED88}"/>
              </a:ext>
            </a:extLst>
          </p:cNvPr>
          <p:cNvSpPr txBox="1"/>
          <p:nvPr/>
        </p:nvSpPr>
        <p:spPr>
          <a:xfrm>
            <a:off x="-357756" y="4112388"/>
            <a:ext cx="12069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Сырьевые активы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 descr="Файл:Bitcoin.svg — Википедия">
            <a:extLst>
              <a:ext uri="{FF2B5EF4-FFF2-40B4-BE49-F238E27FC236}">
                <a16:creationId xmlns:a16="http://schemas.microsoft.com/office/drawing/2014/main" id="{F279436C-C6BB-72F4-145D-022767C57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45" y="2779687"/>
            <a:ext cx="396000" cy="396000"/>
          </a:xfrm>
          <a:prstGeom prst="rect">
            <a:avLst/>
          </a:prstGeom>
        </p:spPr>
      </p:pic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DCB71D7A-0180-9480-F536-01A34716EF8D}"/>
              </a:ext>
            </a:extLst>
          </p:cNvPr>
          <p:cNvCxnSpPr/>
          <p:nvPr/>
        </p:nvCxnSpPr>
        <p:spPr>
          <a:xfrm flipH="1">
            <a:off x="2375731" y="1982624"/>
            <a:ext cx="1931349" cy="5725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C8E3E9EB-2A1D-A52C-4E67-21042E92E34F}"/>
              </a:ext>
            </a:extLst>
          </p:cNvPr>
          <p:cNvCxnSpPr/>
          <p:nvPr/>
        </p:nvCxnSpPr>
        <p:spPr>
          <a:xfrm>
            <a:off x="5084748" y="1982624"/>
            <a:ext cx="0" cy="6323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0143A895-BBF6-3210-4A64-A31FC9ED072D}"/>
              </a:ext>
            </a:extLst>
          </p:cNvPr>
          <p:cNvCxnSpPr>
            <a:cxnSpLocks/>
          </p:cNvCxnSpPr>
          <p:nvPr/>
        </p:nvCxnSpPr>
        <p:spPr>
          <a:xfrm>
            <a:off x="6202823" y="1950212"/>
            <a:ext cx="0" cy="6972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C212FA02-BA49-1D7C-A343-BAD56D63B467}"/>
              </a:ext>
            </a:extLst>
          </p:cNvPr>
          <p:cNvCxnSpPr>
            <a:cxnSpLocks/>
          </p:cNvCxnSpPr>
          <p:nvPr/>
        </p:nvCxnSpPr>
        <p:spPr>
          <a:xfrm>
            <a:off x="6998804" y="2012534"/>
            <a:ext cx="1982826" cy="5426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326CB41-5F9A-98F4-7332-12F9D37219BF}"/>
              </a:ext>
            </a:extLst>
          </p:cNvPr>
          <p:cNvSpPr txBox="1"/>
          <p:nvPr/>
        </p:nvSpPr>
        <p:spPr>
          <a:xfrm>
            <a:off x="1295602" y="2336821"/>
            <a:ext cx="13642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Bitcoin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45BC07-F174-8541-145B-A3D33AD030D4}"/>
              </a:ext>
            </a:extLst>
          </p:cNvPr>
          <p:cNvSpPr txBox="1"/>
          <p:nvPr/>
        </p:nvSpPr>
        <p:spPr>
          <a:xfrm>
            <a:off x="4077119" y="2645652"/>
            <a:ext cx="15124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Ethereum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Рисунок 25" descr="Файл:Ethereum-icon-purple.svg — Википедия">
            <a:extLst>
              <a:ext uri="{FF2B5EF4-FFF2-40B4-BE49-F238E27FC236}">
                <a16:creationId xmlns:a16="http://schemas.microsoft.com/office/drawing/2014/main" id="{165A62CE-705F-7A37-2A94-0EA9F87FC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5660" y="3107317"/>
            <a:ext cx="569088" cy="56908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BCB8AB4-60D1-800B-7C12-E11ED7075B59}"/>
              </a:ext>
            </a:extLst>
          </p:cNvPr>
          <p:cNvSpPr txBox="1"/>
          <p:nvPr/>
        </p:nvSpPr>
        <p:spPr>
          <a:xfrm>
            <a:off x="5862880" y="2645652"/>
            <a:ext cx="11359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Solana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Рисунок 27" descr="Иконки, логотипы, символы Solana — Скачать в PNG и SVG бесплатно">
            <a:extLst>
              <a:ext uri="{FF2B5EF4-FFF2-40B4-BE49-F238E27FC236}">
                <a16:creationId xmlns:a16="http://schemas.microsoft.com/office/drawing/2014/main" id="{3920BFF5-75BF-D14D-076D-3CC9A18084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2578" y="3083480"/>
            <a:ext cx="616762" cy="616762"/>
          </a:xfrm>
          <a:prstGeom prst="rect">
            <a:avLst/>
          </a:prstGeom>
        </p:spPr>
      </p:pic>
      <p:pic>
        <p:nvPicPr>
          <p:cNvPr id="29" name="Рисунок 28" descr="Dogecoin DOGE Icon SVG, PNG Free Download | UXWing">
            <a:extLst>
              <a:ext uri="{FF2B5EF4-FFF2-40B4-BE49-F238E27FC236}">
                <a16:creationId xmlns:a16="http://schemas.microsoft.com/office/drawing/2014/main" id="{5D9707C1-BCC8-7192-875D-7EC256ED2B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3932" y="2779687"/>
            <a:ext cx="396000" cy="3960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EFE05983-CA59-DA2A-541C-D572C90603AA}"/>
              </a:ext>
            </a:extLst>
          </p:cNvPr>
          <p:cNvSpPr txBox="1"/>
          <p:nvPr/>
        </p:nvSpPr>
        <p:spPr>
          <a:xfrm>
            <a:off x="8967576" y="2336821"/>
            <a:ext cx="15287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Dogecoin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3D1B901D-564A-094B-304D-D732667717F4}"/>
              </a:ext>
            </a:extLst>
          </p:cNvPr>
          <p:cNvCxnSpPr/>
          <p:nvPr/>
        </p:nvCxnSpPr>
        <p:spPr>
          <a:xfrm flipH="1">
            <a:off x="2375731" y="4456631"/>
            <a:ext cx="1931349" cy="5725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3E291B9A-8C6E-2B77-A429-4CB570AA0CF8}"/>
              </a:ext>
            </a:extLst>
          </p:cNvPr>
          <p:cNvCxnSpPr/>
          <p:nvPr/>
        </p:nvCxnSpPr>
        <p:spPr>
          <a:xfrm>
            <a:off x="5676899" y="4426720"/>
            <a:ext cx="0" cy="6323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053D5D7B-F09C-E5A5-A923-87F741773016}"/>
              </a:ext>
            </a:extLst>
          </p:cNvPr>
          <p:cNvCxnSpPr>
            <a:cxnSpLocks/>
          </p:cNvCxnSpPr>
          <p:nvPr/>
        </p:nvCxnSpPr>
        <p:spPr>
          <a:xfrm>
            <a:off x="6998804" y="4458682"/>
            <a:ext cx="1982826" cy="5426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Рисунок 34" descr="Logopond - Logo, Brand &amp; Identity Inspiration (Brent oil)">
            <a:extLst>
              <a:ext uri="{FF2B5EF4-FFF2-40B4-BE49-F238E27FC236}">
                <a16:creationId xmlns:a16="http://schemas.microsoft.com/office/drawing/2014/main" id="{1F8F3576-050B-579B-73C1-85F8A462FD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1971" y="5294670"/>
            <a:ext cx="941547" cy="753237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79FDCE42-836A-E018-8C73-0A1DDB2BC42A}"/>
              </a:ext>
            </a:extLst>
          </p:cNvPr>
          <p:cNvSpPr txBox="1"/>
          <p:nvPr/>
        </p:nvSpPr>
        <p:spPr>
          <a:xfrm>
            <a:off x="639071" y="4833005"/>
            <a:ext cx="1931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Нефть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Brent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DC2D81E-FF1F-79B6-0F2B-87A0E6B07D2F}"/>
              </a:ext>
            </a:extLst>
          </p:cNvPr>
          <p:cNvSpPr txBox="1"/>
          <p:nvPr/>
        </p:nvSpPr>
        <p:spPr>
          <a:xfrm>
            <a:off x="8981633" y="4851598"/>
            <a:ext cx="2277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Нефть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WTI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80085989-B0DF-B9F4-403C-EA8D269AAB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7280" y="5294669"/>
            <a:ext cx="1129304" cy="753237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22182294-B2A2-EF4A-9EFB-4C5539095744}"/>
              </a:ext>
            </a:extLst>
          </p:cNvPr>
          <p:cNvSpPr txBox="1"/>
          <p:nvPr/>
        </p:nvSpPr>
        <p:spPr>
          <a:xfrm>
            <a:off x="4805137" y="5059109"/>
            <a:ext cx="19418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Золото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XAU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" name="Рисунок 40" descr="XAU/USD Forex Trading | AXAFOREX">
            <a:extLst>
              <a:ext uri="{FF2B5EF4-FFF2-40B4-BE49-F238E27FC236}">
                <a16:creationId xmlns:a16="http://schemas.microsoft.com/office/drawing/2014/main" id="{33AF1CB0-9439-D11A-7AFF-24CFD7E689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4635" y="5473287"/>
            <a:ext cx="396000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068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63E0B1-DB7A-11FB-543C-BD52D7EB8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Slide Background">
            <a:extLst>
              <a:ext uri="{FF2B5EF4-FFF2-40B4-BE49-F238E27FC236}">
                <a16:creationId xmlns:a16="http://schemas.microsoft.com/office/drawing/2014/main" id="{5105D448-4A6C-48A3-8C3C-71AF58F3E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4025579F-C5D8-43BE-AF84-3E66A482C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2544415"/>
          </a:xfrm>
          <a:prstGeom prst="rect">
            <a:avLst/>
          </a:prstGeom>
          <a:ln>
            <a:noFill/>
          </a:ln>
          <a:effectLst>
            <a:outerShdw blurRad="203200" dist="88900" dir="5460000" sx="95000" sy="95000" algn="t" rotWithShape="0">
              <a:srgbClr val="000000">
                <a:alpha val="2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BB16A1-85D4-4E21-8443-A11B6B3E8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463941"/>
            <a:ext cx="9963509" cy="1616529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ru-RU" kern="12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Инструменты и источники данных</a:t>
            </a:r>
            <a:endParaRPr lang="en-US" kern="12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E7D5B0-4680-AE12-7DFA-E2F786AF30F8}"/>
              </a:ext>
            </a:extLst>
          </p:cNvPr>
          <p:cNvSpPr txBox="1"/>
          <p:nvPr/>
        </p:nvSpPr>
        <p:spPr>
          <a:xfrm>
            <a:off x="6094476" y="533396"/>
            <a:ext cx="5164645" cy="373046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Autofit/>
          </a:bodyPr>
          <a:lstStyle/>
          <a:p>
            <a:endParaRPr lang="ru-RU" sz="2400" dirty="0"/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F80AE9B7-33F3-14CF-B17E-F6A880AC05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6102019"/>
              </p:ext>
            </p:extLst>
          </p:nvPr>
        </p:nvGraphicFramePr>
        <p:xfrm>
          <a:off x="538385" y="2820111"/>
          <a:ext cx="10998437" cy="34439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61051">
                  <a:extLst>
                    <a:ext uri="{9D8B030D-6E8A-4147-A177-3AD203B41FA5}">
                      <a16:colId xmlns:a16="http://schemas.microsoft.com/office/drawing/2014/main" val="2693433948"/>
                    </a:ext>
                  </a:extLst>
                </a:gridCol>
                <a:gridCol w="5137386">
                  <a:extLst>
                    <a:ext uri="{9D8B030D-6E8A-4147-A177-3AD203B41FA5}">
                      <a16:colId xmlns:a16="http://schemas.microsoft.com/office/drawing/2014/main" val="475723645"/>
                    </a:ext>
                  </a:extLst>
                </a:gridCol>
              </a:tblGrid>
              <a:tr h="8609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Источник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Получаемые данные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1487278203"/>
                  </a:ext>
                </a:extLst>
              </a:tr>
              <a:tr h="8609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CoinGecko</a:t>
                      </a:r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API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Криптовалюты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1185637700"/>
                  </a:ext>
                </a:extLst>
              </a:tr>
              <a:tr h="8609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Gold API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Золото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760342533"/>
                  </a:ext>
                </a:extLst>
              </a:tr>
              <a:tr h="8609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Yahoo Finance Chart API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Нефть WTI и Brent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11384068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1614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E54981-088B-0FA2-30B7-D37D660C9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Slide Background">
            <a:extLst>
              <a:ext uri="{FF2B5EF4-FFF2-40B4-BE49-F238E27FC236}">
                <a16:creationId xmlns:a16="http://schemas.microsoft.com/office/drawing/2014/main" id="{5105D448-4A6C-48A3-8C3C-71AF58F3E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4025579F-C5D8-43BE-AF84-3E66A482C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2544415"/>
          </a:xfrm>
          <a:prstGeom prst="rect">
            <a:avLst/>
          </a:prstGeom>
          <a:ln>
            <a:noFill/>
          </a:ln>
          <a:effectLst>
            <a:outerShdw blurRad="203200" dist="88900" dir="5460000" sx="95000" sy="95000" algn="t" rotWithShape="0">
              <a:srgbClr val="000000">
                <a:alpha val="2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B646F2-213B-182B-2B45-F7B2E9BE3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463941"/>
            <a:ext cx="9963509" cy="1616529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ru-RU" kern="12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Инструменты и источники данных</a:t>
            </a:r>
            <a:endParaRPr lang="en-US" kern="12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D7189C-9519-C603-71D1-3FDBFCD0E76E}"/>
              </a:ext>
            </a:extLst>
          </p:cNvPr>
          <p:cNvSpPr txBox="1"/>
          <p:nvPr/>
        </p:nvSpPr>
        <p:spPr>
          <a:xfrm>
            <a:off x="6094476" y="533396"/>
            <a:ext cx="5164645" cy="373046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Autofit/>
          </a:bodyPr>
          <a:lstStyle/>
          <a:p>
            <a:endParaRPr lang="ru-RU" sz="2400" dirty="0"/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7460EA50-14B3-DF36-1D5D-86EAFFD4F5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6806089"/>
              </p:ext>
            </p:extLst>
          </p:nvPr>
        </p:nvGraphicFramePr>
        <p:xfrm>
          <a:off x="650752" y="2905570"/>
          <a:ext cx="10887448" cy="35521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13287">
                  <a:extLst>
                    <a:ext uri="{9D8B030D-6E8A-4147-A177-3AD203B41FA5}">
                      <a16:colId xmlns:a16="http://schemas.microsoft.com/office/drawing/2014/main" val="915837771"/>
                    </a:ext>
                  </a:extLst>
                </a:gridCol>
                <a:gridCol w="7374161">
                  <a:extLst>
                    <a:ext uri="{9D8B030D-6E8A-4147-A177-3AD203B41FA5}">
                      <a16:colId xmlns:a16="http://schemas.microsoft.com/office/drawing/2014/main" val="2592376169"/>
                    </a:ext>
                  </a:extLst>
                </a:gridCol>
              </a:tblGrid>
              <a:tr h="5391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Библиотека</a:t>
                      </a:r>
                    </a:p>
                  </a:txBody>
                  <a:tcPr marL="94701" marR="94701" marT="47351" marB="473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Назначение</a:t>
                      </a:r>
                    </a:p>
                  </a:txBody>
                  <a:tcPr marL="94701" marR="94701" marT="47351" marB="47351" anchor="ctr"/>
                </a:tc>
                <a:extLst>
                  <a:ext uri="{0D108BD9-81ED-4DB2-BD59-A6C34878D82A}">
                    <a16:rowId xmlns:a16="http://schemas.microsoft.com/office/drawing/2014/main" val="2659094430"/>
                  </a:ext>
                </a:extLst>
              </a:tr>
              <a:tr h="5391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Tkinter</a:t>
                      </a:r>
                    </a:p>
                  </a:txBody>
                  <a:tcPr marL="94701" marR="94701" marT="47351" marB="473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Создание графического интерфейса программы</a:t>
                      </a:r>
                    </a:p>
                  </a:txBody>
                  <a:tcPr marL="94701" marR="94701" marT="47351" marB="47351" anchor="ctr"/>
                </a:tc>
                <a:extLst>
                  <a:ext uri="{0D108BD9-81ED-4DB2-BD59-A6C34878D82A}">
                    <a16:rowId xmlns:a16="http://schemas.microsoft.com/office/drawing/2014/main" val="4246096335"/>
                  </a:ext>
                </a:extLst>
              </a:tr>
              <a:tr h="967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ttk</a:t>
                      </a:r>
                    </a:p>
                  </a:txBody>
                  <a:tcPr marL="94701" marR="94701" marT="47351" marB="473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Использование дополнительных элементов интерфейса</a:t>
                      </a:r>
                    </a:p>
                  </a:txBody>
                  <a:tcPr marL="94701" marR="94701" marT="47351" marB="47351" anchor="ctr"/>
                </a:tc>
                <a:extLst>
                  <a:ext uri="{0D108BD9-81ED-4DB2-BD59-A6C34878D82A}">
                    <a16:rowId xmlns:a16="http://schemas.microsoft.com/office/drawing/2014/main" val="372874499"/>
                  </a:ext>
                </a:extLst>
              </a:tr>
              <a:tr h="5391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requests</a:t>
                      </a:r>
                    </a:p>
                  </a:txBody>
                  <a:tcPr marL="94701" marR="94701" marT="47351" marB="473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Отправка HTTP-запросов к API и получение данных</a:t>
                      </a:r>
                    </a:p>
                  </a:txBody>
                  <a:tcPr marL="94701" marR="94701" marT="47351" marB="47351" anchor="ctr"/>
                </a:tc>
                <a:extLst>
                  <a:ext uri="{0D108BD9-81ED-4DB2-BD59-A6C34878D82A}">
                    <a16:rowId xmlns:a16="http://schemas.microsoft.com/office/drawing/2014/main" val="3163041037"/>
                  </a:ext>
                </a:extLst>
              </a:tr>
              <a:tr h="9673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threading</a:t>
                      </a:r>
                    </a:p>
                  </a:txBody>
                  <a:tcPr marL="94701" marR="94701" marT="47351" marB="473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Выполнение запросов в отдельных потоках, чтобы интерфейс не зависал</a:t>
                      </a:r>
                    </a:p>
                  </a:txBody>
                  <a:tcPr marL="94701" marR="94701" marT="47351" marB="47351" anchor="ctr"/>
                </a:tc>
                <a:extLst>
                  <a:ext uri="{0D108BD9-81ED-4DB2-BD59-A6C34878D82A}">
                    <a16:rowId xmlns:a16="http://schemas.microsoft.com/office/drawing/2014/main" val="2495619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4249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0488AC-C345-2816-72A4-C5FB9A8A0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373004D4-BE4E-FAD6-9A7E-ED91376D1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F6DE1F-67BD-BABF-FDDC-3C33155E2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" y="-1"/>
            <a:ext cx="12190476" cy="18284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ru-RU" kern="12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Механизм работы</a:t>
            </a:r>
            <a:endParaRPr lang="en-US" kern="12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CE012A68-04FC-191E-34EA-1BBCB9653D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0949" y="1427201"/>
            <a:ext cx="7965530" cy="8384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59CCFF9-0FF5-9C28-7E3B-79D4E92E8B3A}"/>
              </a:ext>
            </a:extLst>
          </p:cNvPr>
          <p:cNvSpPr txBox="1"/>
          <p:nvPr/>
        </p:nvSpPr>
        <p:spPr>
          <a:xfrm>
            <a:off x="6094476" y="533396"/>
            <a:ext cx="5164645" cy="373046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Autofit/>
          </a:bodyPr>
          <a:lstStyle/>
          <a:p>
            <a:endParaRPr lang="ru-RU" sz="24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3A52CF5-C580-11DC-0C07-05A3A817C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0949" y="2398626"/>
            <a:ext cx="7965530" cy="86526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F6486F4-A527-359C-4DF4-EFA3F9599B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7717" y="3396839"/>
            <a:ext cx="7946476" cy="90707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0EEDE20-9508-0303-1F76-76F0BDC16D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8663" y="4436861"/>
            <a:ext cx="7965530" cy="79018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FCF97D67-9242-C620-83C4-CD0E3AC015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7719" y="5359989"/>
            <a:ext cx="7946474" cy="813719"/>
          </a:xfrm>
          <a:prstGeom prst="rect">
            <a:avLst/>
          </a:prstGeom>
        </p:spPr>
      </p:pic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9BFF3D08-FDE9-BDAD-EA91-6FA01216FB17}"/>
              </a:ext>
            </a:extLst>
          </p:cNvPr>
          <p:cNvCxnSpPr/>
          <p:nvPr/>
        </p:nvCxnSpPr>
        <p:spPr>
          <a:xfrm>
            <a:off x="6083476" y="2265678"/>
            <a:ext cx="0" cy="1329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0AAFBB61-A33C-7F15-7B05-46C2F6680B84}"/>
              </a:ext>
            </a:extLst>
          </p:cNvPr>
          <p:cNvCxnSpPr/>
          <p:nvPr/>
        </p:nvCxnSpPr>
        <p:spPr>
          <a:xfrm>
            <a:off x="6075731" y="3263891"/>
            <a:ext cx="0" cy="1329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D6E0E0F4-1DA8-B50D-0CAC-24F9E81A7A88}"/>
              </a:ext>
            </a:extLst>
          </p:cNvPr>
          <p:cNvCxnSpPr/>
          <p:nvPr/>
        </p:nvCxnSpPr>
        <p:spPr>
          <a:xfrm>
            <a:off x="6075731" y="4303913"/>
            <a:ext cx="0" cy="1329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72E51206-6250-B7CA-7D49-BDFF050F9BFE}"/>
              </a:ext>
            </a:extLst>
          </p:cNvPr>
          <p:cNvCxnSpPr/>
          <p:nvPr/>
        </p:nvCxnSpPr>
        <p:spPr>
          <a:xfrm>
            <a:off x="6082257" y="5227041"/>
            <a:ext cx="0" cy="1329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5098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359E25-61C0-6C3B-D8B9-47F910B57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</a:t>
            </a:r>
            <a:r>
              <a:rPr lang="en-US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lang="en-US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внимание</a:t>
            </a:r>
            <a:r>
              <a:rPr lang="en-US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7716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310</Words>
  <Application>Microsoft Office PowerPoint</Application>
  <PresentationFormat>Широкоэкранный</PresentationFormat>
  <Paragraphs>50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Times New Roman</vt:lpstr>
      <vt:lpstr>Тема Office</vt:lpstr>
      <vt:lpstr>«Создание программы на языке Python для рыночного мониторинга цифровых и сырьевых активов»</vt:lpstr>
      <vt:lpstr>Введение</vt:lpstr>
      <vt:lpstr>Введение</vt:lpstr>
      <vt:lpstr>Выбранные активы</vt:lpstr>
      <vt:lpstr>Инструменты и источники данных</vt:lpstr>
      <vt:lpstr>Инструменты и источники данных</vt:lpstr>
      <vt:lpstr>Механизм работы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Дмитрий Христофоров</dc:creator>
  <cp:lastModifiedBy>Дмитрий Христофоров</cp:lastModifiedBy>
  <cp:revision>340</cp:revision>
  <dcterms:created xsi:type="dcterms:W3CDTF">2024-11-03T05:55:39Z</dcterms:created>
  <dcterms:modified xsi:type="dcterms:W3CDTF">2026-10-31T13:34:04Z</dcterms:modified>
</cp:coreProperties>
</file>